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B4C9"/>
                </a:solidFill>
                <a:latin typeface="Aptos"/>
              </a:rPr>
              <a:t>CAMPUS-SCALE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Campus Maintenance
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6E0EE"/>
                </a:solidFill>
                <a:latin typeface="Aptos"/>
              </a:rPr>
              <a:t>Turn scattered maintenance complaints into structured, prioritized and predictive campus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246120"/>
            <a:ext cx="10881360" cy="2057400"/>
          </a:xfrm>
          <a:prstGeom prst="roundRect">
            <a:avLst/>
          </a:prstGeom>
          <a:solidFill>
            <a:srgbClr val="1F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B4C9"/>
                </a:solidFill>
                <a:latin typeface="Aptos"/>
              </a:rPr>
              <a:t>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58768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“AC not working”   •   “Same leak again”   •   “Projector broken”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84048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E992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02152"/>
            <a:ext cx="4526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288" y="373075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65D6"/>
                </a:solidFill>
                <a:latin typeface="Aptos"/>
              </a:rPr>
              <a:t>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4114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4"/>
                </a:solidFill>
                <a:latin typeface="Aptos"/>
              </a:rPr>
              <a:t>Duplicate?  Priority?  Recurring?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45079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484"/>
                </a:solidFill>
                <a:latin typeface="Aptos"/>
              </a:rPr>
              <a:t>Predict failure → recommend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Why this is compelling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704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0EE"/>
                </a:solidFill>
                <a:latin typeface="Aptos"/>
              </a:rPr>
              <a:t>Real campus problem  •  Objective operational data  •  Multiple measurable ML tasks  •  Genuine long-term deployment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84"/>
                </a:solidFill>
                <a:latin typeface="Aptos"/>
              </a:rPr>
              <a:t>Campus Maintenance Intelligence   •  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65D6"/>
                </a:solidFill>
                <a:latin typeface="Aptos"/>
              </a:rPr>
              <a:t>01 • 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4"/>
                </a:solidFill>
                <a:latin typeface="Aptos"/>
              </a:rPr>
              <a:t>From complaint collection to maintenance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F4848"/>
                </a:solidFill>
                <a:latin typeface="Aptos"/>
              </a:rPr>
              <a:t>The current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Multiple people report the same issue, creating duplicate work.</a:t>
            </a:r>
          </a:p>
          <a:p>
            <a:pPr>
              <a:spcAft>
                <a:spcPts val="9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Urgent failures can get buried under routine complaints.</a:t>
            </a:r>
          </a:p>
          <a:p>
            <a:pPr>
              <a:spcAft>
                <a:spcPts val="9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Past repairs are difficult to connect to new incidents.</a:t>
            </a:r>
          </a:p>
          <a:p>
            <a:pPr>
              <a:spcAft>
                <a:spcPts val="9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Repeated failures are discovered only after they become expensive.</a:t>
            </a:r>
          </a:p>
          <a:p>
            <a:pPr>
              <a:spcAft>
                <a:spcPts val="9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Maintenance decisions often depend on manual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85232"/>
            <a:ext cx="4572000" cy="502920"/>
          </a:xfrm>
          <a:prstGeom prst="roundRect">
            <a:avLst/>
          </a:prstGeom>
          <a:solidFill>
            <a:srgbClr val="F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04104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F4848"/>
                </a:solidFill>
                <a:latin typeface="Aptos"/>
              </a:rPr>
              <a:t>Goal: make maintenance decisions data-driven.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508760"/>
            <a:ext cx="5486400" cy="4526280"/>
          </a:xfrm>
          <a:prstGeom prst="roundRect">
            <a:avLst/>
          </a:prstGeom>
          <a:solidFill>
            <a:srgbClr val="FAFCFF"/>
          </a:solidFill>
          <a:ln>
            <a:solidFill>
              <a:srgbClr val="CD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65D6"/>
                </a:solidFill>
                <a:latin typeface="Aptos"/>
              </a:rPr>
              <a:t>Proposed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212848"/>
            <a:ext cx="384048" cy="384048"/>
          </a:xfrm>
          <a:prstGeom prst="ellipse">
            <a:avLst/>
          </a:prstGeom>
          <a:solidFill>
            <a:srgbClr val="34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7685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21945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1945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Convert free-text reports into incident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871215"/>
            <a:ext cx="384048" cy="384048"/>
          </a:xfrm>
          <a:prstGeom prst="ellipse">
            <a:avLst/>
          </a:prstGeom>
          <a:solidFill>
            <a:srgbClr val="34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35223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852927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852927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Find duplicate / related incidents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529583"/>
            <a:ext cx="384048" cy="384048"/>
          </a:xfrm>
          <a:prstGeom prst="ellipse">
            <a:avLst/>
          </a:prstGeom>
          <a:solidFill>
            <a:srgbClr val="34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93591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511295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Prioritize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511295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Rank by urgency, recurrence and impact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187951"/>
            <a:ext cx="384048" cy="384048"/>
          </a:xfrm>
          <a:prstGeom prst="ellipse">
            <a:avLst/>
          </a:prstGeom>
          <a:solidFill>
            <a:srgbClr val="34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59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169663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169663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Identify likely recurring failures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846319"/>
            <a:ext cx="384048" cy="384048"/>
          </a:xfrm>
          <a:prstGeom prst="ellipse">
            <a:avLst/>
          </a:prstGeom>
          <a:solidFill>
            <a:srgbClr val="34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910327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828031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Optimize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82803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Recommend intervention timing / cost trade-offs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84"/>
                </a:solidFill>
                <a:latin typeface="Aptos"/>
              </a:rPr>
              <a:t>Campus Maintenance Intelligence   • 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65D6"/>
                </a:solidFill>
                <a:latin typeface="Aptos"/>
              </a:rPr>
              <a:t>02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4"/>
                </a:solidFill>
                <a:latin typeface="Aptos"/>
              </a:rPr>
              <a:t>Every intelligent component has measurable ground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65D6"/>
                </a:solidFill>
                <a:latin typeface="Aptos"/>
              </a:rPr>
              <a:t>Incident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3172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7"/>
                </a:solidFill>
                <a:latin typeface="Aptos"/>
              </a:rPr>
              <a:t>Compare predicted categories against verified work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66420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B4C9"/>
                </a:solidFill>
                <a:latin typeface="Aptos"/>
              </a:rPr>
              <a:t>Duplicate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233172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7"/>
                </a:solidFill>
                <a:latin typeface="Aptos"/>
              </a:rPr>
              <a:t>Measure whether reports from the same issue are grouped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173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166420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9C67"/>
                </a:solidFill>
                <a:latin typeface="Aptos"/>
              </a:rPr>
              <a:t>Failure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233172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7"/>
                </a:solidFill>
                <a:latin typeface="Aptos"/>
              </a:rPr>
              <a:t>Predict recurrence using timestamp, repair and asset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4173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66420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E992C"/>
                </a:solidFill>
                <a:latin typeface="Aptos"/>
              </a:rPr>
              <a:t>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33172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7"/>
                </a:solidFill>
                <a:latin typeface="Aptos"/>
              </a:rPr>
              <a:t>Test whether high-impact cases rise to the top.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11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4"/>
                </a:solidFill>
                <a:latin typeface="Aptos"/>
              </a:rPr>
              <a:t>Example: controlled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023360"/>
            <a:ext cx="2331720" cy="411480"/>
          </a:xfrm>
          <a:prstGeom prst="round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114800"/>
            <a:ext cx="2185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4023360"/>
            <a:ext cx="3749039" cy="411480"/>
          </a:xfrm>
          <a:prstGeom prst="round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6664" y="4114800"/>
            <a:ext cx="360273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Ground truth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2551" y="4023360"/>
            <a:ext cx="2240280" cy="411480"/>
          </a:xfrm>
          <a:prstGeom prst="round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3" y="4114800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43984"/>
            <a:ext cx="233172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526280"/>
            <a:ext cx="2185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Duplicate detection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3512" y="4443984"/>
            <a:ext cx="3749039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6664" y="4526280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Known incident / work-order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2551" y="4443984"/>
            <a:ext cx="224028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3" y="4526280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Precision, Recall, F1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882896"/>
            <a:ext cx="233172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965192"/>
            <a:ext cx="2185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Priority ranking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53512" y="4882896"/>
            <a:ext cx="3749039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4965192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Urgency + completion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2551" y="4882896"/>
            <a:ext cx="224028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3" y="496519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Precision@K / NDCG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321808"/>
            <a:ext cx="233172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5404104"/>
            <a:ext cx="2185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Recurrence prediction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53512" y="5321808"/>
            <a:ext cx="3749039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26664" y="5404104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Later verified recurrence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02551" y="5321808"/>
            <a:ext cx="224028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3" y="5404104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Precision, Recall, F1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5760720"/>
            <a:ext cx="233172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5843016"/>
            <a:ext cx="2185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Cost optimization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53512" y="5760720"/>
            <a:ext cx="3749039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26664" y="5843016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Actual repair cost / outcome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02551" y="5760720"/>
            <a:ext cx="2240280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E7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5703" y="5843016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7"/>
                </a:solidFill>
                <a:latin typeface="Aptos"/>
              </a:rPr>
              <a:t>Cost reduction / ROI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3611880"/>
            <a:ext cx="2560320" cy="2240280"/>
          </a:xfrm>
          <a:prstGeom prst="roundRect">
            <a:avLst/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867912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9C67"/>
                </a:solidFill>
                <a:latin typeface="Aptos"/>
              </a:rPr>
              <a:t>Why the project is credible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48056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Timestamps</a:t>
            </a:r>
          </a:p>
          <a:p>
            <a:pPr>
              <a:spcAft>
                <a:spcPts val="5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Repair completion</a:t>
            </a:r>
          </a:p>
          <a:p>
            <a:pPr>
              <a:spcAft>
                <a:spcPts val="5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Recurrence</a:t>
            </a:r>
          </a:p>
          <a:p>
            <a:pPr>
              <a:spcAft>
                <a:spcPts val="5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Actual cost</a:t>
            </a:r>
          </a:p>
          <a:p>
            <a:pPr>
              <a:spcAft>
                <a:spcPts val="5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Work-order outcomes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84"/>
                </a:solidFill>
                <a:latin typeface="Aptos"/>
              </a:rPr>
              <a:t>Campus Maintenance Intelligence   • 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B4C9"/>
                </a:solidFill>
                <a:latin typeface="Aptos"/>
              </a:rPr>
              <a:t>03 • LONG-TERM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 project that can grow far beyond a basic ticket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0EE"/>
                </a:solidFill>
                <a:latin typeface="Aptos"/>
              </a:rPr>
              <a:t>The MVP is campus-testable. Each later layer creates a new research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423160" cy="2331720"/>
          </a:xfrm>
          <a:prstGeom prst="roundRect">
            <a:avLst/>
          </a:prstGeom>
          <a:solidFill>
            <a:srgbClr val="1F2D46"/>
          </a:solidFill>
          <a:ln>
            <a:solidFill>
              <a:srgbClr val="34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65D6"/>
                </a:solidFill>
                <a:latin typeface="Aptos"/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52928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NLP incident extraction
Classification + duplicate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97763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CDE1"/>
                </a:solidFill>
                <a:latin typeface="Aptos"/>
              </a:rPr>
              <a:t>✓ independently testable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48840"/>
            <a:ext cx="2423160" cy="2331720"/>
          </a:xfrm>
          <a:prstGeom prst="roundRect">
            <a:avLst/>
          </a:prstGeom>
          <a:solidFill>
            <a:srgbClr val="1F2D46"/>
          </a:solidFill>
          <a:ln>
            <a:solidFill>
              <a:srgbClr val="36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3957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B4C9"/>
                </a:solidFill>
                <a:latin typeface="Apto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52928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Anomaly detection
Recurring failure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97763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CDE1"/>
                </a:solidFill>
                <a:latin typeface="Aptos"/>
              </a:rPr>
              <a:t>✓ independently testable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2423160" cy="2331720"/>
          </a:xfrm>
          <a:prstGeom prst="roundRect">
            <a:avLst/>
          </a:prstGeom>
          <a:solidFill>
            <a:srgbClr val="1F2D46"/>
          </a:solidFill>
          <a:ln>
            <a:solidFill>
              <a:srgbClr val="2B9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9C67"/>
                </a:solidFill>
                <a:latin typeface="Aptos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Predictive maintenance
Failure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3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CDE1"/>
                </a:solidFill>
                <a:latin typeface="Aptos"/>
              </a:rPr>
              <a:t>✓ independently testable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48840"/>
            <a:ext cx="2423160" cy="2331720"/>
          </a:xfrm>
          <a:prstGeom prst="roundRect">
            <a:avLst/>
          </a:prstGeom>
          <a:solidFill>
            <a:srgbClr val="1F2D46"/>
          </a:solidFill>
          <a:ln>
            <a:solidFill>
              <a:srgbClr val="DE9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3957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E992C"/>
                </a:solidFill>
                <a:latin typeface="Aptos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852928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Cost optimization
Intervention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97763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CDE1"/>
                </a:solidFill>
                <a:latin typeface="Aptos"/>
              </a:rPr>
              <a:t>✓ independently testable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789920" cy="9875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65D6"/>
                </a:solidFill>
                <a:latin typeface="Aptos"/>
              </a:rPr>
              <a:t>The strongest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074920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F34"/>
                </a:solidFill>
                <a:latin typeface="Aptos"/>
              </a:rPr>
              <a:t>It is not just “predict maintenance.” It connects NLP → clustering → prediction → optimization using real operational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Proposed outcome: working prototype + controlled experiments + campus deployment roadmap.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84"/>
                </a:solidFill>
                <a:latin typeface="Aptos"/>
              </a:rPr>
              <a:t>Campus Maintenance Intelligence   • 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