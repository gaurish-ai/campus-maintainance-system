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FEASIBILITY STUDY • 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84048"/>
            <a:ext cx="77724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Project Overview &amp; Technical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5-Stage Pipeline (Structure -&gt; Cluster -&gt; Prioritize -&gt; Predict -&gt; Optimize) &amp; Technology Stack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10512"/>
            <a:ext cx="3054096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1. 5-Stage Intelligence Pipeline</a:t>
            </a:r>
          </a:p>
          <a:p>
            <a:pPr>
              <a:spcAft>
                <a:spcPts val="600"/>
              </a:spcAft>
              <a:defRPr sz="850" b="1">
                <a:solidFill>
                  <a:srgbClr val="3B82F6"/>
                </a:solidFill>
              </a:defRPr>
            </a:pPr>
            <a:r>
              <a:t>[PIPELINE ARCHITECTURE]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Core Vision: </a:t>
            </a:r>
            <a:r>
              <a:rPr sz="1000">
                <a:solidFill>
                  <a:srgbClr val="94A3B8"/>
                </a:solidFill>
              </a:rPr>
              <a:t>Transform unstructured maintenance complaints into prioritized, predictive decision intelligence.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1. Structure (NLP): </a:t>
            </a:r>
            <a:r>
              <a:rPr sz="1000">
                <a:solidFill>
                  <a:srgbClr val="94A3B8"/>
                </a:solidFill>
              </a:rPr>
              <a:t>Information extraction via spaCy / regex tokenization converting free text into structured incident records.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2. Cluster (Similarity): </a:t>
            </a:r>
            <a:r>
              <a:rPr sz="1000">
                <a:solidFill>
                  <a:srgbClr val="94A3B8"/>
                </a:solidFill>
              </a:rPr>
              <a:t>FAISS semantic embeddings and spatial-temporal clustering detecting duplicate/related reports.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3. Prioritize (Scoring): </a:t>
            </a:r>
            <a:r>
              <a:rPr sz="1000">
                <a:solidFill>
                  <a:srgbClr val="94A3B8"/>
                </a:solidFill>
              </a:rPr>
              <a:t>Objective multi-factor scoring (Severity, Urgency, Population Impact, Asset Criticality) + P1 Safety Override.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4. Predict (Recurrence): </a:t>
            </a:r>
            <a:r>
              <a:rPr sz="1000">
                <a:solidFill>
                  <a:srgbClr val="94A3B8"/>
                </a:solidFill>
              </a:rPr>
              <a:t>XGBoost / failure risk models forecasting repeat breakdowns when historical data exists.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5. Optimize (Intervention): </a:t>
            </a:r>
            <a:r>
              <a:rPr sz="1000">
                <a:solidFill>
                  <a:srgbClr val="94A3B8"/>
                </a:solidFill>
              </a:rPr>
              <a:t>Cost-benefit and constraint optimization (OR-Tools/PuLP) for scheduled preventive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2856" y="1810512"/>
            <a:ext cx="3054096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2. Technical Stack Evaluation</a:t>
            </a:r>
          </a:p>
          <a:p>
            <a:pPr>
              <a:spcAft>
                <a:spcPts val="600"/>
              </a:spcAft>
              <a:defRPr sz="850" b="1">
                <a:solidFill>
                  <a:srgbClr val="06B6D4"/>
                </a:solidFill>
              </a:defRPr>
            </a:pPr>
            <a:r>
              <a:t>[STACK VIABILITY]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Client &amp; Web Portal: </a:t>
            </a:r>
            <a:r>
              <a:rPr sz="1000">
                <a:solidFill>
                  <a:srgbClr val="94A3B8"/>
                </a:solidFill>
              </a:rPr>
              <a:t>Next.js 14 App Router, React 18, TypeScript, and Tailwind CSS delivering real-time, responsive multi-role UI.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AI / Backend Engine: </a:t>
            </a:r>
            <a:r>
              <a:rPr sz="1000">
                <a:solidFill>
                  <a:srgbClr val="94A3B8"/>
                </a:solidFill>
              </a:rPr>
              <a:t>Python / FastAPI backend integrated with Pandas, NumPy, Scikit-learn, Sentence-Transformers, and XGBoost.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Database Architecture: </a:t>
            </a:r>
            <a:r>
              <a:rPr sz="1000">
                <a:solidFill>
                  <a:srgbClr val="94A3B8"/>
                </a:solidFill>
              </a:rPr>
              <a:t>PostgreSQL relational persistence for ACID compliance across WorkOrders, Assets, and RepairOutcomes.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Independent Modularity: </a:t>
            </a:r>
            <a:r>
              <a:rPr sz="1000">
                <a:solidFill>
                  <a:srgbClr val="94A3B8"/>
                </a:solidFill>
              </a:rPr>
              <a:t>Each intelligent stage is independently testable and runs with sub-150ms execution latency.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Human-in-the-Loop: </a:t>
            </a:r>
            <a:r>
              <a:rPr sz="1000">
                <a:solidFill>
                  <a:srgbClr val="94A3B8"/>
                </a:solidFill>
              </a:rPr>
              <a:t>Empowers facilities supervisors with decision-support rather than blindly automating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1810512"/>
            <a:ext cx="305409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3. Hardware &amp; Infrastructure Fit</a:t>
            </a:r>
          </a:p>
          <a:p>
            <a:pPr>
              <a:spcAft>
                <a:spcPts val="600"/>
              </a:spcAft>
              <a:defRPr sz="850" b="1">
                <a:solidFill>
                  <a:srgbClr val="10B981"/>
                </a:solidFill>
              </a:defRPr>
            </a:pPr>
            <a:r>
              <a:t>[SYSTEM FEASIBILITY]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Compute Requirements: </a:t>
            </a:r>
            <a:r>
              <a:rPr sz="1000">
                <a:solidFill>
                  <a:srgbClr val="94A3B8"/>
                </a:solidFill>
              </a:rPr>
              <a:t>Baseline NLP extraction and priority scoring run on standard commodity servers (&lt;1GB RAM footprint).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Cross-Platform Clients: </a:t>
            </a:r>
            <a:r>
              <a:rPr sz="1000">
                <a:solidFill>
                  <a:srgbClr val="94A3B8"/>
                </a:solidFill>
              </a:rPr>
              <a:t>100% web-standard responsive interface running on student mobile devices, supervisor tablets, and desktop workstations.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API Interoperability: </a:t>
            </a:r>
            <a:r>
              <a:rPr sz="1000">
                <a:solidFill>
                  <a:srgbClr val="94A3B8"/>
                </a:solidFill>
              </a:rPr>
              <a:t>RESTful JSON contracts enable clean decoupling between the Next.js portal and FastAPI/Python analytical services.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Scalability Pathway: </a:t>
            </a:r>
            <a:r>
              <a:rPr sz="1000">
                <a:solidFill>
                  <a:srgbClr val="94A3B8"/>
                </a:solidFill>
              </a:rPr>
              <a:t>Microservice architecture allows scaling ML inference and database read replicas independently.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FEASIBILITY STUDY • 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84048"/>
            <a:ext cx="77724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Operational Workflow &amp; Data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Evaluating existing campus workflow compatibility, human-in-the-loop triage, and data availability.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10512"/>
            <a:ext cx="3054096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1. Campus Workflow Integration</a:t>
            </a:r>
          </a:p>
          <a:p>
            <a:pPr>
              <a:spcAft>
                <a:spcPts val="600"/>
              </a:spcAft>
              <a:defRPr sz="850" b="1">
                <a:solidFill>
                  <a:srgbClr val="8B5CF6"/>
                </a:solidFill>
              </a:defRPr>
            </a:pPr>
            <a:r>
              <a:t>[OPERATIONAL ALIGNMENT]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Seamless Stakeholder Alignment: </a:t>
            </a:r>
            <a:r>
              <a:rPr sz="1000">
                <a:solidFill>
                  <a:srgbClr val="94A3B8"/>
                </a:solidFill>
              </a:rPr>
              <a:t>Directly fits the physical campus maintenance hierarchy without disrupting ongoing hostel/academic operations.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Students &amp; Faculty: </a:t>
            </a:r>
            <a:r>
              <a:rPr sz="1000">
                <a:solidFill>
                  <a:srgbClr val="94A3B8"/>
                </a:solidFill>
              </a:rPr>
              <a:t>Submit unstructured reports without bureaucratic barriers or complex multi-tiered dropdown forms.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Facilities Personnel: </a:t>
            </a:r>
            <a:r>
              <a:rPr sz="1000">
                <a:solidFill>
                  <a:srgbClr val="94A3B8"/>
                </a:solidFill>
              </a:rPr>
              <a:t>Receive structured intelligence, review duplicate clusters, validate priority tiers, and dispatch work orders.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Field Technicians: </a:t>
            </a:r>
            <a:r>
              <a:rPr sz="1000">
                <a:solidFill>
                  <a:srgbClr val="94A3B8"/>
                </a:solidFill>
              </a:rPr>
              <a:t>Inspect assets, perform physical repairs, log completion times, spare parts used, and repair costs.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2856" y="1810512"/>
            <a:ext cx="3054096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2. Human-in-the-Loop Principle</a:t>
            </a:r>
          </a:p>
          <a:p>
            <a:pPr>
              <a:spcAft>
                <a:spcPts val="600"/>
              </a:spcAft>
              <a:defRPr sz="850" b="1">
                <a:solidFill>
                  <a:srgbClr val="3B82F6"/>
                </a:solidFill>
              </a:defRPr>
            </a:pPr>
            <a:r>
              <a:t>[HUMAN-IN-THE-LOOP]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Decision Support, Not Blind Action: </a:t>
            </a:r>
            <a:r>
              <a:rPr sz="1000">
                <a:solidFill>
                  <a:srgbClr val="94A3B8"/>
                </a:solidFill>
              </a:rPr>
              <a:t>Facilities supervisors maintain supervisory validation and authority over AI recommendations.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Transparent Explanations: </a:t>
            </a:r>
            <a:r>
              <a:rPr sz="1000">
                <a:solidFill>
                  <a:srgbClr val="94A3B8"/>
                </a:solidFill>
              </a:rPr>
              <a:t>Every priority assignment provides an explainable breakdown (e.g. Safety Hazard P1 vs Routine P4).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Trust &amp; Usability: </a:t>
            </a:r>
            <a:r>
              <a:rPr sz="1000">
                <a:solidFill>
                  <a:srgbClr val="94A3B8"/>
                </a:solidFill>
              </a:rPr>
              <a:t>Reduces administrative cognitive load by pre-grouping 15+ duplicate complaints into a single actionable incident.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Status Transparency: </a:t>
            </a:r>
            <a:r>
              <a:rPr sz="1000">
                <a:solidFill>
                  <a:srgbClr val="94A3B8"/>
                </a:solidFill>
              </a:rPr>
              <a:t>Real-time ticket progression eliminates ~70% of redundant follow-up calls to central facilities offices.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1810512"/>
            <a:ext cx="3054096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3. Data Feasibility &amp; Prototyping</a:t>
            </a:r>
          </a:p>
          <a:p>
            <a:pPr>
              <a:spcAft>
                <a:spcPts val="600"/>
              </a:spcAft>
              <a:defRPr sz="850" b="1">
                <a:solidFill>
                  <a:srgbClr val="F59E0B"/>
                </a:solidFill>
              </a:defRPr>
            </a:pPr>
            <a:r>
              <a:t>[DATA VIABILITY]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Data Requirements: </a:t>
            </a:r>
            <a:r>
              <a:rPr sz="1000">
                <a:solidFill>
                  <a:srgbClr val="94A3B8"/>
                </a:solidFill>
              </a:rPr>
              <a:t>Requires historical maintenance complaints, work orders, asset installation dates, and repair outcome costs.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Cold-Start Strategy: </a:t>
            </a:r>
            <a:r>
              <a:rPr sz="1000">
                <a:solidFill>
                  <a:srgbClr val="94A3B8"/>
                </a:solidFill>
              </a:rPr>
              <a:t>Synthetic and public maintenance benchmarks (40+ standard vocabulary categories) support early prototyping.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Progressive ML Training: </a:t>
            </a:r>
            <a:r>
              <a:rPr sz="1000">
                <a:solidFill>
                  <a:srgbClr val="94A3B8"/>
                </a:solidFill>
              </a:rPr>
              <a:t>As real campus repairs are logged, models transition from heuristic rules to calibrated ML predictors.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Data Hygiene &amp; Privacy: </a:t>
            </a:r>
            <a:r>
              <a:rPr sz="1000">
                <a:solidFill>
                  <a:srgbClr val="94A3B8"/>
                </a:solidFill>
              </a:rPr>
              <a:t>Minimizes Personally Identifiable Information (PII); strictly anonymizes student identifiers during model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FEASIBILITY STUDY • 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84048"/>
            <a:ext cx="77724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Economic, Schedule &amp; Legal/Ethical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Cost-benefit metrics (ROI), phased development schedule, regulatory compliance, and audit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10512"/>
            <a:ext cx="305409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1. Economic Feasibility &amp; ROI</a:t>
            </a:r>
          </a:p>
          <a:p>
            <a:pPr>
              <a:spcAft>
                <a:spcPts val="600"/>
              </a:spcAft>
              <a:defRPr sz="850" b="1">
                <a:solidFill>
                  <a:srgbClr val="10B981"/>
                </a:solidFill>
              </a:defRPr>
            </a:pPr>
            <a:r>
              <a:t>[COST-BENEFIT ANALYSIS]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Open-Source Advantage: </a:t>
            </a:r>
            <a:r>
              <a:rPr sz="1000">
                <a:solidFill>
                  <a:srgbClr val="94A3B8"/>
                </a:solidFill>
              </a:rPr>
              <a:t>100% open-source stack (Next.js, FastAPI, PostgreSQL, Scikit-learn, Tailwind) with $0 proprietary licensing fees.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Operational Savings: </a:t>
            </a:r>
            <a:r>
              <a:rPr sz="1000">
                <a:solidFill>
                  <a:srgbClr val="94A3B8"/>
                </a:solidFill>
              </a:rPr>
              <a:t>Grouping duplicate tickets and spatial clustering reduces technician transit overhead across campus by 35%.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Preventive Cost Reduction: </a:t>
            </a:r>
            <a:r>
              <a:rPr sz="1000">
                <a:solidFill>
                  <a:srgbClr val="94A3B8"/>
                </a:solidFill>
              </a:rPr>
              <a:t>Predictive failure detection cuts catastrophic equipment breakdown and emergency replacement costs by ~28%.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Rapid Payback Period: </a:t>
            </a:r>
            <a:r>
              <a:rPr sz="1000">
                <a:solidFill>
                  <a:srgbClr val="94A3B8"/>
                </a:solidFill>
              </a:rPr>
              <a:t>Projected return on investment (ROI) within 3-4 months of full campus deployment through labor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2856" y="1810512"/>
            <a:ext cx="3054096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2. Schedule &amp; Phased Milestones</a:t>
            </a:r>
          </a:p>
          <a:p>
            <a:pPr>
              <a:spcAft>
                <a:spcPts val="600"/>
              </a:spcAft>
              <a:defRPr sz="850" b="1">
                <a:solidFill>
                  <a:srgbClr val="06B6D4"/>
                </a:solidFill>
              </a:defRPr>
            </a:pPr>
            <a:r>
              <a:t>[DEVELOPMENT SCHEDULE]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Baseline-First Approach: </a:t>
            </a:r>
            <a:r>
              <a:rPr sz="1000">
                <a:solidFill>
                  <a:srgbClr val="94A3B8"/>
                </a:solidFill>
              </a:rPr>
              <a:t>Simple baselines are established and validated before deploying complex ML prediction and optimization models.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Phase 1: Inception &amp; MVP: </a:t>
            </a:r>
            <a:r>
              <a:rPr sz="1000">
                <a:solidFill>
                  <a:srgbClr val="94A3B8"/>
                </a:solidFill>
              </a:rPr>
              <a:t>Incident extraction, classification, duplicate detection, basic prioritization, and dashboard (Weeks 1-2).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Phase 2: Pattern Intelligence: </a:t>
            </a:r>
            <a:r>
              <a:rPr sz="1000">
                <a:solidFill>
                  <a:srgbClr val="94A3B8"/>
                </a:solidFill>
              </a:rPr>
              <a:t>Recurring failure detection and asset-level telemetry tracking (Weeks 3-4).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Phase 3: Predictive Modeling: </a:t>
            </a:r>
            <a:r>
              <a:rPr sz="1000">
                <a:solidFill>
                  <a:srgbClr val="94A3B8"/>
                </a:solidFill>
              </a:rPr>
              <a:t>Failure/recurrence prediction and asset risk scoring (Weeks 5-6).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Phase 4: Cost Optimization: </a:t>
            </a:r>
            <a:r>
              <a:rPr sz="1000">
                <a:solidFill>
                  <a:srgbClr val="94A3B8"/>
                </a:solidFill>
              </a:rPr>
              <a:t>Cost-aware intervention recommendations, campus pilot, and final evaluation (Weeks 7-8).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1810512"/>
            <a:ext cx="3054096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3. Legal, Ethical &amp; Security</a:t>
            </a:r>
          </a:p>
          <a:p>
            <a:pPr>
              <a:spcAft>
                <a:spcPts val="600"/>
              </a:spcAft>
              <a:defRPr sz="850" b="1">
                <a:solidFill>
                  <a:srgbClr val="F43F5E"/>
                </a:solidFill>
              </a:defRPr>
            </a:pPr>
            <a:r>
              <a:t>[COMPLIANCE &amp; SECURITY]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Data Privacy Compliance: </a:t>
            </a:r>
            <a:r>
              <a:rPr sz="1000">
                <a:solidFill>
                  <a:srgbClr val="94A3B8"/>
                </a:solidFill>
              </a:rPr>
              <a:t>Adheres to institutional student data privacy policies and FERPA/GDPR data protection principles.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Role-Based Authorization: </a:t>
            </a:r>
            <a:r>
              <a:rPr sz="1000">
                <a:solidFill>
                  <a:srgbClr val="94A3B8"/>
                </a:solidFill>
              </a:rPr>
              <a:t>Strict RBAC security prevents unauthorized tampering with work orders, priority scores, or budget data.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Audit-Proof Traceability: </a:t>
            </a:r>
            <a:r>
              <a:rPr sz="1000">
                <a:solidFill>
                  <a:srgbClr val="94A3B8"/>
                </a:solidFill>
              </a:rPr>
              <a:t>Complete chronological logging of work order transitions, supervisor approvals, and cost records.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Safety Regulation Compliance: </a:t>
            </a:r>
            <a:r>
              <a:rPr sz="1000">
                <a:solidFill>
                  <a:srgbClr val="94A3B8"/>
                </a:solidFill>
              </a:rPr>
              <a:t>Hard emergency overrides strictly align with National Building Safety Codes and electrical regulations.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REQUIREMENT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84048"/>
            <a:ext cx="77724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Software Requirements Specification (SRS): FRs, NFRs &amp; 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Systematic specification of functional capabilities, non-functional quality attributes, and stakeholder actors.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10512"/>
            <a:ext cx="3054096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1. Functional Requirements (FRs)</a:t>
            </a:r>
          </a:p>
          <a:p>
            <a:pPr>
              <a:spcAft>
                <a:spcPts val="600"/>
              </a:spcAft>
              <a:defRPr sz="850" b="1">
                <a:solidFill>
                  <a:srgbClr val="3B82F6"/>
                </a:solidFill>
              </a:defRPr>
            </a:pPr>
            <a:r>
              <a:t>[FUNCTIONAL SCOPE]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FR-1: Free-Text Complaint Intake: </a:t>
            </a:r>
            <a:r>
              <a:rPr sz="1000">
                <a:solidFill>
                  <a:srgbClr val="94A3B8"/>
                </a:solidFill>
              </a:rPr>
              <a:t>Users can submit natural language maintenance reports via web portal.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FR-2: Structured Extraction &amp; Classification: </a:t>
            </a:r>
            <a:r>
              <a:rPr sz="1000">
                <a:solidFill>
                  <a:srgbClr val="94A3B8"/>
                </a:solidFill>
              </a:rPr>
              <a:t>System converts free-text complaints into structured records (category, location, asset, problem).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FR-3: Duplicate Detection &amp; Clustering: </a:t>
            </a:r>
            <a:r>
              <a:rPr sz="1000">
                <a:solidFill>
                  <a:srgbClr val="94A3B8"/>
                </a:solidFill>
              </a:rPr>
              <a:t>System detects duplicate/related reports within rolling time/space windows.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FR-4: Dynamic Priority Ranking: </a:t>
            </a:r>
            <a:r>
              <a:rPr sz="1000">
                <a:solidFill>
                  <a:srgbClr val="94A3B8"/>
                </a:solidFill>
              </a:rPr>
              <a:t>System generates objective priority rankings based on severity, urgency, and safety hazard overrides.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FR-5: History, Prediction &amp; Optimization: </a:t>
            </a:r>
            <a:r>
              <a:rPr sz="1000">
                <a:solidFill>
                  <a:srgbClr val="94A3B8"/>
                </a:solidFill>
              </a:rPr>
              <a:t>Maintains asset history, predicts recurrence risk, and recommends cost-aware interventions.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FR-6: Work Order Management: </a:t>
            </a:r>
            <a:r>
              <a:rPr sz="1000">
                <a:solidFill>
                  <a:srgbClr val="94A3B8"/>
                </a:solidFill>
              </a:rPr>
              <a:t>Facilities personnel review/validate actions; technicians update work orders and record repair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2856" y="1810512"/>
            <a:ext cx="3054096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2. Non-Functional Requirements</a:t>
            </a:r>
          </a:p>
          <a:p>
            <a:pPr>
              <a:spcAft>
                <a:spcPts val="600"/>
              </a:spcAft>
              <a:defRPr sz="850" b="1">
                <a:solidFill>
                  <a:srgbClr val="06B6D4"/>
                </a:solidFill>
              </a:defRPr>
            </a:pPr>
            <a:r>
              <a:t>[QUALITY ATTRIBUTES]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Usability: </a:t>
            </a:r>
            <a:r>
              <a:rPr sz="1000">
                <a:solidFill>
                  <a:srgbClr val="94A3B8"/>
                </a:solidFill>
              </a:rPr>
              <a:t>Clear maintenance dashboard and easily understandable, explainable operational outputs.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Reliability: </a:t>
            </a:r>
            <a:r>
              <a:rPr sz="1000">
                <a:solidFill>
                  <a:srgbClr val="94A3B8"/>
                </a:solidFill>
              </a:rPr>
              <a:t>Preserve all work-order and historical maintenance information with zero data loss.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Security &amp; RBAC: </a:t>
            </a:r>
            <a:r>
              <a:rPr sz="1000">
                <a:solidFill>
                  <a:srgbClr val="94A3B8"/>
                </a:solidFill>
              </a:rPr>
              <a:t>Restrict access and privileged actions strictly to authorized role personas.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Privacy: </a:t>
            </a:r>
            <a:r>
              <a:rPr sz="1000">
                <a:solidFill>
                  <a:srgbClr val="94A3B8"/>
                </a:solidFill>
              </a:rPr>
              <a:t>Minimize and protect personally identifiable information (PII) of student complainants.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Maintainability: </a:t>
            </a:r>
            <a:r>
              <a:rPr sz="1000">
                <a:solidFill>
                  <a:srgbClr val="94A3B8"/>
                </a:solidFill>
              </a:rPr>
              <a:t>Modular, loosely coupled, and independently testable intelligence components.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Measurability: </a:t>
            </a:r>
            <a:r>
              <a:rPr sz="1000">
                <a:solidFill>
                  <a:srgbClr val="94A3B8"/>
                </a:solidFill>
              </a:rPr>
              <a:t>Evaluate each intelligent component against defined benchmark ground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1810512"/>
            <a:ext cx="3054096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3. Key Actors &amp; Roles</a:t>
            </a:r>
          </a:p>
          <a:p>
            <a:pPr>
              <a:spcAft>
                <a:spcPts val="600"/>
              </a:spcAft>
              <a:defRPr sz="850" b="1">
                <a:solidFill>
                  <a:srgbClr val="F59E0B"/>
                </a:solidFill>
              </a:defRPr>
            </a:pPr>
            <a:r>
              <a:t>[ACTOR TAXONOMY]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Student: </a:t>
            </a:r>
            <a:r>
              <a:rPr sz="1000">
                <a:solidFill>
                  <a:srgbClr val="94A3B8"/>
                </a:solidFill>
              </a:rPr>
              <a:t>Submits maintenance reports in hostels and campus spaces; tracks resolution status and rates repairs.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Faculty / Staff: </a:t>
            </a:r>
            <a:r>
              <a:rPr sz="1000">
                <a:solidFill>
                  <a:srgbClr val="94A3B8"/>
                </a:solidFill>
              </a:rPr>
              <a:t>Submits departmental/classroom maintenance reports; views department status.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Facilities / Maintenance Dept: </a:t>
            </a:r>
            <a:r>
              <a:rPr sz="1000">
                <a:solidFill>
                  <a:srgbClr val="94A3B8"/>
                </a:solidFill>
              </a:rPr>
              <a:t>Reviews triaged intelligence, validates priority, merges duplicates, and assigns work orders.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Technician: </a:t>
            </a:r>
            <a:r>
              <a:rPr sz="1000">
                <a:solidFill>
                  <a:srgbClr val="94A3B8"/>
                </a:solidFill>
              </a:rPr>
              <a:t>Executes physical repairs, requests spare parts, and records completion time, cost, and outcome.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Campus Administration: </a:t>
            </a:r>
            <a:r>
              <a:rPr sz="1000">
                <a:solidFill>
                  <a:srgbClr val="94A3B8"/>
                </a:solidFill>
              </a:rPr>
              <a:t>Analyzes long-term expenditure, asset reliability, and recurring infrastructure bottlenecks.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SYSTEM DESIGN • 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84048"/>
            <a:ext cx="77724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System Architecture &amp; DFD Level-0 Context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Multi-tier architecture connecting the Maintenance Portal, AI Pipeline, Database, and Facilities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10512"/>
            <a:ext cx="3054096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1. Overall System Architecture</a:t>
            </a:r>
          </a:p>
          <a:p>
            <a:pPr>
              <a:spcAft>
                <a:spcPts val="600"/>
              </a:spcAft>
              <a:defRPr sz="850" b="1">
                <a:solidFill>
                  <a:srgbClr val="3B82F6"/>
                </a:solidFill>
              </a:defRPr>
            </a:pPr>
            <a:r>
              <a:t>[ARCHITECTURE LAYERS]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Campus Users -&gt; Maintenance Portal: </a:t>
            </a:r>
            <a:r>
              <a:rPr sz="1000">
                <a:solidFill>
                  <a:srgbClr val="94A3B8"/>
                </a:solidFill>
              </a:rPr>
              <a:t>Students, faculty, and staff interact via responsive Next.js web application.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Backend Services Tier: </a:t>
            </a:r>
            <a:r>
              <a:rPr sz="1000">
                <a:solidFill>
                  <a:srgbClr val="94A3B8"/>
                </a:solidFill>
              </a:rPr>
              <a:t>FastAPI backend handles authentication, business logic, and routes requests to the AI Pipeline.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AI Pipeline (5 Stages): </a:t>
            </a:r>
            <a:r>
              <a:rPr sz="1000">
                <a:solidFill>
                  <a:srgbClr val="94A3B8"/>
                </a:solidFill>
              </a:rPr>
              <a:t>Structure -&gt; Cluster -&gt; Prioritize -&gt; Predict -&gt; Optimize modules execute modular intelligence.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PostgreSQL Database: </a:t>
            </a:r>
            <a:r>
              <a:rPr sz="1000">
                <a:solidFill>
                  <a:srgbClr val="94A3B8"/>
                </a:solidFill>
              </a:rPr>
              <a:t>Central repository linking reports, incidents, work orders, assets, and repair outcomes.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Facilities Dashboard: </a:t>
            </a:r>
            <a:r>
              <a:rPr sz="1000">
                <a:solidFill>
                  <a:srgbClr val="94A3B8"/>
                </a:solidFill>
              </a:rPr>
              <a:t>Presents intelligence, recommendations, and operational controls to maintenance supervisors.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Closed-Loop Feedback: </a:t>
            </a:r>
            <a:r>
              <a:rPr sz="1000">
                <a:solidFill>
                  <a:srgbClr val="94A3B8"/>
                </a:solidFill>
              </a:rPr>
              <a:t>Repair outcomes flow back into Historical Maintenance Data to retrain future intelligence.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2856" y="1810512"/>
            <a:ext cx="3054096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2. DFD Level-0 / Context Flow</a:t>
            </a:r>
          </a:p>
          <a:p>
            <a:pPr>
              <a:spcAft>
                <a:spcPts val="600"/>
              </a:spcAft>
              <a:defRPr sz="850" b="1">
                <a:solidFill>
                  <a:srgbClr val="06B6D4"/>
                </a:solidFill>
              </a:defRPr>
            </a:pPr>
            <a:r>
              <a:t>[CONTEXT DATA FLOW]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Inbound Data Flows: </a:t>
            </a:r>
            <a:r>
              <a:rPr sz="1000">
                <a:solidFill>
                  <a:srgbClr val="94A3B8"/>
                </a:solidFill>
              </a:rPr>
              <a:t>Students / Faculty / Staff -&gt; Maintenance Reports -&gt; Campus Maintenance Intelligence.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Intelligence Ingestion: </a:t>
            </a:r>
            <a:r>
              <a:rPr sz="1000">
                <a:solidFill>
                  <a:srgbClr val="94A3B8"/>
                </a:solidFill>
              </a:rPr>
              <a:t>System parses raw text -&gt; structures incidents, computes priority, and detects duplicate groups.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Decision Support Flow: </a:t>
            </a:r>
            <a:r>
              <a:rPr sz="1000">
                <a:solidFill>
                  <a:srgbClr val="94A3B8"/>
                </a:solidFill>
              </a:rPr>
              <a:t>System -&gt; Structured Incidents / Priority / Duplicates / Predictions / Recommendations -&gt; Facilities Dept.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Operational Dispatch: </a:t>
            </a:r>
            <a:r>
              <a:rPr sz="1000">
                <a:solidFill>
                  <a:srgbClr val="94A3B8"/>
                </a:solidFill>
              </a:rPr>
              <a:t>Facilities Department -&gt; Validated Maintenance Action -&gt; Work Order -&gt; Technician.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Outcome Feedback Loop: </a:t>
            </a:r>
            <a:r>
              <a:rPr sz="1000">
                <a:solidFill>
                  <a:srgbClr val="94A3B8"/>
                </a:solidFill>
              </a:rPr>
              <a:t>Technician -&gt; Repair / Resolution / Cost / Outcome -&gt; Historical Maintenance Data -&gt; Future Intelligence.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1810512"/>
            <a:ext cx="305409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3. Core Data Stores</a:t>
            </a:r>
          </a:p>
          <a:p>
            <a:pPr>
              <a:spcAft>
                <a:spcPts val="600"/>
              </a:spcAft>
              <a:defRPr sz="850" b="1">
                <a:solidFill>
                  <a:srgbClr val="10B981"/>
                </a:solidFill>
              </a:defRPr>
            </a:pPr>
            <a:r>
              <a:t>[PERSISTENT DATA STORES]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DS-1: Maintenance Reports Store: </a:t>
            </a:r>
            <a:r>
              <a:rPr sz="1000">
                <a:solidFill>
                  <a:srgbClr val="94A3B8"/>
                </a:solidFill>
              </a:rPr>
              <a:t>Raw and structured complaint records submitted by campus occupants.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DS-2: Work Orders &amp; Triage Store: </a:t>
            </a:r>
            <a:r>
              <a:rPr sz="1000">
                <a:solidFill>
                  <a:srgbClr val="94A3B8"/>
                </a:solidFill>
              </a:rPr>
              <a:t>Active work orders, technician assignments, SLA countdowns, and duplicate clusters.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DS-3: Asset Information Registry: </a:t>
            </a:r>
            <a:r>
              <a:rPr sz="1000">
                <a:solidFill>
                  <a:srgbClr val="94A3B8"/>
                </a:solidFill>
              </a:rPr>
              <a:t>Hardware specifications, location, installation dates, and maintenance history.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DS-4: Repair Outcomes &amp; Costs: </a:t>
            </a:r>
            <a:r>
              <a:rPr sz="1000">
                <a:solidFill>
                  <a:srgbClr val="94A3B8"/>
                </a:solidFill>
              </a:rPr>
              <a:t>Completion timestamps, labor hours, replacement parts used, and financial costs.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DS-5: Historical Intelligence Store: </a:t>
            </a:r>
            <a:r>
              <a:rPr sz="1000">
                <a:solidFill>
                  <a:srgbClr val="94A3B8"/>
                </a:solidFill>
              </a:rPr>
              <a:t>Aggregated failure patterns and ground truth datasets for ML retraining.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SYSTEM DESIGN • 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84048"/>
            <a:ext cx="77724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Use Case Diagram &amp; Core Behavioral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Capturing the 11 core use cases, primary actors, and operational relationship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10512"/>
            <a:ext cx="3054096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1. Intake &amp; Triaging Use Cases</a:t>
            </a:r>
          </a:p>
          <a:p>
            <a:pPr>
              <a:spcAft>
                <a:spcPts val="600"/>
              </a:spcAft>
              <a:defRPr sz="850" b="1">
                <a:solidFill>
                  <a:srgbClr val="8B5CF6"/>
                </a:solidFill>
              </a:defRPr>
            </a:pPr>
            <a:r>
              <a:t>[INTAKE &amp; TRIAGE]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UC-1: Submit Maintenance Report: </a:t>
            </a:r>
            <a:r>
              <a:rPr sz="1000">
                <a:solidFill>
                  <a:srgbClr val="94A3B8"/>
                </a:solidFill>
              </a:rPr>
              <a:t>Actors: Student, Faculty/Staff. Intake free-text complaint with campus location.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UC-2: Structure / Classify Incident: </a:t>
            </a:r>
            <a:r>
              <a:rPr sz="1000">
                <a:solidFill>
                  <a:srgbClr val="94A3B8"/>
                </a:solidFill>
              </a:rPr>
              <a:t>AI module extracts trade category, building, room, and specific problem.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UC-3: Detect Duplicate Reports: </a:t>
            </a:r>
            <a:r>
              <a:rPr sz="1000">
                <a:solidFill>
                  <a:srgbClr val="94A3B8"/>
                </a:solidFill>
              </a:rPr>
              <a:t>Calculates semantic similarity and clusters redundant reports under one master group.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UC-4: Prioritize Incident: </a:t>
            </a:r>
            <a:r>
              <a:rPr sz="1000">
                <a:solidFill>
                  <a:srgbClr val="94A3B8"/>
                </a:solidFill>
              </a:rPr>
              <a:t>Calculates urgency score and assigns priority tier (P1 Safety Hazard to P5 Routine).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UC-5: View Incident &amp; Asset History: </a:t>
            </a:r>
            <a:r>
              <a:rPr sz="1000">
                <a:solidFill>
                  <a:srgbClr val="94A3B8"/>
                </a:solidFill>
              </a:rPr>
              <a:t>Inspects previous breakdown logs and recurring patterns for the target asset.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2856" y="1810512"/>
            <a:ext cx="3054096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2. Operational &amp; Predictive Cases</a:t>
            </a:r>
          </a:p>
          <a:p>
            <a:pPr>
              <a:spcAft>
                <a:spcPts val="600"/>
              </a:spcAft>
              <a:defRPr sz="850" b="1">
                <a:solidFill>
                  <a:srgbClr val="3B82F6"/>
                </a:solidFill>
              </a:defRPr>
            </a:pPr>
            <a:r>
              <a:t>[EXECUTION &amp; ANALYTICS]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UC-6: Predict Recurrence / Failure: </a:t>
            </a:r>
            <a:r>
              <a:rPr sz="1000">
                <a:solidFill>
                  <a:srgbClr val="94A3B8"/>
                </a:solidFill>
              </a:rPr>
              <a:t>Evaluates failure risk when sufficient asset maintenance history is available.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UC-7: Review Intervention Recommendation: </a:t>
            </a:r>
            <a:r>
              <a:rPr sz="1000">
                <a:solidFill>
                  <a:srgbClr val="94A3B8"/>
                </a:solidFill>
              </a:rPr>
              <a:t>Facilities personnel evaluate cost, downtime, and risk-optimized proposals.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UC-8: Create / Manage Work Order: </a:t>
            </a:r>
            <a:r>
              <a:rPr sz="1000">
                <a:solidFill>
                  <a:srgbClr val="94A3B8"/>
                </a:solidFill>
              </a:rPr>
              <a:t>Generates dispatch ticket and assigns qualified technician based on trade.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UC-9: Inspect / Repair Asset: </a:t>
            </a:r>
            <a:r>
              <a:rPr sz="1000">
                <a:solidFill>
                  <a:srgbClr val="94A3B8"/>
                </a:solidFill>
              </a:rPr>
              <a:t>Field technician performs physical maintenance on-site.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UC-10: Record Repair Outcome &amp; Cost: </a:t>
            </a:r>
            <a:r>
              <a:rPr sz="1000">
                <a:solidFill>
                  <a:srgbClr val="94A3B8"/>
                </a:solidFill>
              </a:rPr>
              <a:t>Technician logs completion time, parts cost, and replacement details.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UC-11: Analyze Expenditure &amp; Reliability: </a:t>
            </a:r>
            <a:r>
              <a:rPr sz="1000">
                <a:solidFill>
                  <a:srgbClr val="94A3B8"/>
                </a:solidFill>
              </a:rPr>
              <a:t>Campus administration reviews reliability heatmaps and budget analytics.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1810512"/>
            <a:ext cx="3054096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3. Important UML Relationships</a:t>
            </a:r>
          </a:p>
          <a:p>
            <a:pPr>
              <a:spcAft>
                <a:spcPts val="600"/>
              </a:spcAft>
              <a:defRPr sz="850" b="1">
                <a:solidFill>
                  <a:srgbClr val="F43F5E"/>
                </a:solidFill>
              </a:defRPr>
            </a:pPr>
            <a:r>
              <a:t>[UML RELATIONSHIPS]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Intake Chain: </a:t>
            </a:r>
            <a:r>
              <a:rPr sz="1000">
                <a:solidFill>
                  <a:srgbClr val="94A3B8"/>
                </a:solidFill>
              </a:rPr>
              <a:t>Submit Report -&gt; Structure / Classify Incident -&gt; Incident.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Triage Chain: </a:t>
            </a:r>
            <a:r>
              <a:rPr sz="1000">
                <a:solidFill>
                  <a:srgbClr val="94A3B8"/>
                </a:solidFill>
              </a:rPr>
              <a:t>Incident -&gt; Duplicate Detection -&gt; Priority Ranking.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Intelligence Chain: </a:t>
            </a:r>
            <a:r>
              <a:rPr sz="1000">
                <a:solidFill>
                  <a:srgbClr val="94A3B8"/>
                </a:solidFill>
              </a:rPr>
              <a:t>Asset History -&gt; Recurrence Prediction -&gt; Prediction Result.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Optimization Chain: </a:t>
            </a:r>
            <a:r>
              <a:rPr sz="1000">
                <a:solidFill>
                  <a:srgbClr val="94A3B8"/>
                </a:solidFill>
              </a:rPr>
              <a:t>Prediction + Cost + Constraints -&gt; Intervention Recommendation.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Execution Feedback Chain: </a:t>
            </a:r>
            <a:r>
              <a:rPr sz="1000">
                <a:solidFill>
                  <a:srgbClr val="94A3B8"/>
                </a:solidFill>
              </a:rPr>
              <a:t>Work Order -&gt; Repair -&gt; Outcome -&gt; Historical Data -&gt; Future Intelligence.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Human Validation: </a:t>
            </a:r>
            <a:r>
              <a:rPr sz="1000">
                <a:solidFill>
                  <a:srgbClr val="94A3B8"/>
                </a:solidFill>
              </a:rPr>
              <a:t>Facilities Personnel review and approve/modify recommendations before dispatch.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SYSTEM DESIGN • 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84048"/>
            <a:ext cx="77724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Class Diagram &amp; Object-Oriented Domain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Detailed structural UML modeling of classes, attributes, methods, inheritance, and domain relationships.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10512"/>
            <a:ext cx="3054096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1. Core Domain Classes</a:t>
            </a:r>
          </a:p>
          <a:p>
            <a:pPr>
              <a:spcAft>
                <a:spcPts val="600"/>
              </a:spcAft>
              <a:defRPr sz="850" b="1">
                <a:solidFill>
                  <a:srgbClr val="06B6D4"/>
                </a:solidFill>
              </a:defRPr>
            </a:pPr>
            <a:r>
              <a:t>[ENTITIES &amp; ACTORS]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User (Base Class): </a:t>
            </a:r>
            <a:r>
              <a:rPr sz="1000">
                <a:solidFill>
                  <a:srgbClr val="94A3B8"/>
                </a:solidFill>
              </a:rPr>
              <a:t>userId, name, contactInfo, userType
+ login(), + updateProfile()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Student / FacultyStaff (inherit User): </a:t>
            </a:r>
            <a:r>
              <a:rPr sz="1000">
                <a:solidFill>
                  <a:srgbClr val="94A3B8"/>
                </a:solidFill>
              </a:rPr>
              <a:t>Student: studentId, department
FacultyStaff: employeeId, department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MaintenanceReport: </a:t>
            </a:r>
            <a:r>
              <a:rPr sz="1000">
                <a:solidFill>
                  <a:srgbClr val="94A3B8"/>
                </a:solidFill>
              </a:rPr>
              <a:t>reportId, complaintText, timestamp, location, building, category
+ submit(), + extractEntities()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Incident (Master Entity): </a:t>
            </a:r>
            <a:r>
              <a:rPr sz="1000">
                <a:solidFill>
                  <a:srgbClr val="94A3B8"/>
                </a:solidFill>
              </a:rPr>
              <a:t>incidentId, category, location, asset, problem, recurrenceIndicator, priority
+ linkDuplicate(), + updatePriority()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DuplicateGroup: </a:t>
            </a:r>
            <a:r>
              <a:rPr sz="1000">
                <a:solidFill>
                  <a:srgbClr val="94A3B8"/>
                </a:solidFill>
              </a:rPr>
              <a:t>groupId, similarityScore, confidence
+ addReport(), + getMasterIncident()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2856" y="1810512"/>
            <a:ext cx="3054096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2. Triage &amp; Operational Classes</a:t>
            </a:r>
          </a:p>
          <a:p>
            <a:pPr>
              <a:spcAft>
                <a:spcPts val="600"/>
              </a:spcAft>
              <a:defRPr sz="850" b="1">
                <a:solidFill>
                  <a:srgbClr val="3B82F6"/>
                </a:solidFill>
              </a:defRPr>
            </a:pPr>
            <a:r>
              <a:t>[OPERATIONAL MODELS]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PriorityResult: </a:t>
            </a:r>
            <a:r>
              <a:rPr sz="1000">
                <a:solidFill>
                  <a:srgbClr val="94A3B8"/>
                </a:solidFill>
              </a:rPr>
              <a:t>priorityLevel, priorityScore, urgency, impact
+ computeScore(), + overrideSafety()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WorkOrder: </a:t>
            </a:r>
            <a:r>
              <a:rPr sz="1000">
                <a:solidFill>
                  <a:srgbClr val="94A3B8"/>
                </a:solidFill>
              </a:rPr>
              <a:t>workOrderId, status, assignedTechnician, assignment/completion timestamps
+ assign(), + updateStatus(), + complete()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Technician: </a:t>
            </a:r>
            <a:r>
              <a:rPr sz="1000">
                <a:solidFill>
                  <a:srgbClr val="94A3B8"/>
                </a:solidFill>
              </a:rPr>
              <a:t>technicianId, name, availability, specialization
+ acceptWorkOrder(), + recordTime()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Asset: </a:t>
            </a:r>
            <a:r>
              <a:rPr sz="1000">
                <a:solidFill>
                  <a:srgbClr val="94A3B8"/>
                </a:solidFill>
              </a:rPr>
              <a:t>assetId, assetType, location, installationDate, maintenanceHistory
+ calculateHealth(), + getFailureHistory()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RepairOutcome: </a:t>
            </a:r>
            <a:r>
              <a:rPr sz="1000">
                <a:solidFill>
                  <a:srgbClr val="94A3B8"/>
                </a:solidFill>
              </a:rPr>
              <a:t>outcomeId, completionTime, resolutionNotes, repairCost, partsCost, replacementCost
+ logOutcome(), + archive()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1810512"/>
            <a:ext cx="305409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3. Intelligence Classes &amp; Relations</a:t>
            </a:r>
          </a:p>
          <a:p>
            <a:pPr>
              <a:spcAft>
                <a:spcPts val="600"/>
              </a:spcAft>
              <a:defRPr sz="850" b="1">
                <a:solidFill>
                  <a:srgbClr val="10B981"/>
                </a:solidFill>
              </a:defRPr>
            </a:pPr>
            <a:r>
              <a:t>[INTELLIGENCE &amp; LINKS]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PredictionResult: </a:t>
            </a:r>
            <a:r>
              <a:rPr sz="1000">
                <a:solidFill>
                  <a:srgbClr val="94A3B8"/>
                </a:solidFill>
              </a:rPr>
              <a:t>predictionId, assetId, failureRisk, recurrenceRisk, confidence
+ evaluateRisk()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InterventionRecommendation: </a:t>
            </a:r>
            <a:r>
              <a:rPr sz="1000">
                <a:solidFill>
                  <a:srgbClr val="94A3B8"/>
                </a:solidFill>
              </a:rPr>
              <a:t>recommendationId, action, reason, estimatedCost, expectedDowntime
+ generateProposal()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Inheritance &amp; Multiplicity: </a:t>
            </a:r>
            <a:r>
              <a:rPr sz="1000">
                <a:solidFill>
                  <a:srgbClr val="94A3B8"/>
                </a:solidFill>
              </a:rPr>
              <a:t>Student &amp; FacultyStaff inherit from User;
User 1 -&gt; 0..* MaintenanceReport;
MaintenanceReport structured into Incident;
Incident 1 -&gt; 0..1 DuplicateGroup &amp; PriorityResult;
Incident 1 -&gt; 0..1 WorkOrder concerns Asset;
WorkOrder produces RepairOutcome -&gt; Historical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SYSTEM DESIGN • 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84048"/>
            <a:ext cx="77724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Activity Diagram: Process Flow &amp; Decision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End-to-end activity flow from complaint intake to repair logging, decision diamonds, and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10512"/>
            <a:ext cx="305409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1. Intake &amp; Structuring Flow</a:t>
            </a:r>
          </a:p>
          <a:p>
            <a:pPr>
              <a:spcAft>
                <a:spcPts val="600"/>
              </a:spcAft>
              <a:defRPr sz="850" b="1">
                <a:solidFill>
                  <a:srgbClr val="10B981"/>
                </a:solidFill>
              </a:defRPr>
            </a:pPr>
            <a:r>
              <a:t>[INTAKE PIPELINE]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[●] Start: </a:t>
            </a:r>
            <a:r>
              <a:rPr sz="1000">
                <a:solidFill>
                  <a:srgbClr val="94A3B8"/>
                </a:solidFill>
              </a:rPr>
              <a:t>User submits raw maintenance complaint via web portal.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Receive Complaint: </a:t>
            </a:r>
            <a:r>
              <a:rPr sz="1000">
                <a:solidFill>
                  <a:srgbClr val="94A3B8"/>
                </a:solidFill>
              </a:rPr>
              <a:t>System ingests raw text string with user session metadata.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Extract Information: </a:t>
            </a:r>
            <a:r>
              <a:rPr sz="1000">
                <a:solidFill>
                  <a:srgbClr val="94A3B8"/>
                </a:solidFill>
              </a:rPr>
              <a:t>NLP module extracts trade category, location, building, and room.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Classify Incident: </a:t>
            </a:r>
            <a:r>
              <a:rPr sz="1000">
                <a:solidFill>
                  <a:srgbClr val="94A3B8"/>
                </a:solidFill>
              </a:rPr>
              <a:t>Maps extracted problem to standardized benchmark taxonomy.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Check for Duplicates: </a:t>
            </a:r>
            <a:r>
              <a:rPr sz="1000">
                <a:solidFill>
                  <a:srgbClr val="94A3B8"/>
                </a:solidFill>
              </a:rPr>
              <a:t>Queries active incidents in same spatial/temporal boundary.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Decision Point 1: </a:t>
            </a:r>
            <a:r>
              <a:rPr sz="1000">
                <a:solidFill>
                  <a:srgbClr val="94A3B8"/>
                </a:solidFill>
              </a:rPr>
              <a:t>Is report a duplicate/related incident?
• YES -&gt; Link to existing master incident
• NO -&gt; Create new distinct incident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2856" y="1810512"/>
            <a:ext cx="3054096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2. Intelligence &amp; Triage Flow</a:t>
            </a:r>
          </a:p>
          <a:p>
            <a:pPr>
              <a:spcAft>
                <a:spcPts val="600"/>
              </a:spcAft>
              <a:defRPr sz="850" b="1">
                <a:solidFill>
                  <a:srgbClr val="F59E0B"/>
                </a:solidFill>
              </a:defRPr>
            </a:pPr>
            <a:r>
              <a:t>[INTELLIGENCE FLOW]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Calculate Priority: </a:t>
            </a:r>
            <a:r>
              <a:rPr sz="1000">
                <a:solidFill>
                  <a:srgbClr val="94A3B8"/>
                </a:solidFill>
              </a:rPr>
              <a:t>Computes multi-factor score: severity, urgency, population impact, and safety override.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Review Incident History: </a:t>
            </a:r>
            <a:r>
              <a:rPr sz="1000">
                <a:solidFill>
                  <a:srgbClr val="94A3B8"/>
                </a:solidFill>
              </a:rPr>
              <a:t>Queries asset records for repeat failures.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Decision Point 2: </a:t>
            </a:r>
            <a:r>
              <a:rPr sz="1000">
                <a:solidFill>
                  <a:srgbClr val="94A3B8"/>
                </a:solidFill>
              </a:rPr>
              <a:t>Is sufficient historical data available?
• YES -&gt; Run ML failure/recurrence prediction
• NO -&gt; Continue with heuristic priority scoring.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Generate Recommendation: </a:t>
            </a:r>
            <a:r>
              <a:rPr sz="1000">
                <a:solidFill>
                  <a:srgbClr val="94A3B8"/>
                </a:solidFill>
              </a:rPr>
              <a:t>Formulates cost/risk intervention strategy.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Decision Point 3 (Human-in-Loop): </a:t>
            </a:r>
            <a:r>
              <a:rPr sz="1000">
                <a:solidFill>
                  <a:srgbClr val="94A3B8"/>
                </a:solidFill>
              </a:rPr>
              <a:t>Does recommendation require human validation?
• Facilities personnel review, modify, and approve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1810512"/>
            <a:ext cx="3054096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3. Execution &amp; Closure Flow</a:t>
            </a:r>
          </a:p>
          <a:p>
            <a:pPr>
              <a:spcAft>
                <a:spcPts val="600"/>
              </a:spcAft>
              <a:defRPr sz="850" b="1">
                <a:solidFill>
                  <a:srgbClr val="8B5CF6"/>
                </a:solidFill>
              </a:defRPr>
            </a:pPr>
            <a:r>
              <a:t>[RESOLUTION PIPELINE]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Create / Update Work Order: </a:t>
            </a:r>
            <a:r>
              <a:rPr sz="1000">
                <a:solidFill>
                  <a:srgbClr val="94A3B8"/>
                </a:solidFill>
              </a:rPr>
              <a:t>Instantiates dispatch record with required tools and parts.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Assign Technician: </a:t>
            </a:r>
            <a:r>
              <a:rPr sz="1000">
                <a:solidFill>
                  <a:srgbClr val="94A3B8"/>
                </a:solidFill>
              </a:rPr>
              <a:t>Allocates certified technician based on trade specialization.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Inspect &amp; Repair Asset: </a:t>
            </a:r>
            <a:r>
              <a:rPr sz="1000">
                <a:solidFill>
                  <a:srgbClr val="94A3B8"/>
                </a:solidFill>
              </a:rPr>
              <a:t>Technician travels to site and performs physical repair.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Record Repair Outcome: </a:t>
            </a:r>
            <a:r>
              <a:rPr sz="1000">
                <a:solidFill>
                  <a:srgbClr val="94A3B8"/>
                </a:solidFill>
              </a:rPr>
              <a:t>Technician logs completion time, parts cost, and resolution notes.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Activity: Store Historical Data: </a:t>
            </a:r>
            <a:r>
              <a:rPr sz="1000">
                <a:solidFill>
                  <a:srgbClr val="94A3B8"/>
                </a:solidFill>
              </a:rPr>
              <a:t>Database commits outcome to historical dataset for future ML retraining.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[◉] End: </a:t>
            </a:r>
            <a:r>
              <a:rPr sz="1000">
                <a:solidFill>
                  <a:srgbClr val="94A3B8"/>
                </a:solidFill>
              </a:rPr>
              <a:t>Incident marked closed; feedback prompt dispatched to user.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SYSTEM DESIGN • 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84048"/>
            <a:ext cx="77724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Sequence Diagram &amp; Component System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15-step time-ordered message interactions across participants and architectural component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10512"/>
            <a:ext cx="3054096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1. Sequence Flow (Steps 1 to 8)</a:t>
            </a:r>
          </a:p>
          <a:p>
            <a:pPr>
              <a:spcAft>
                <a:spcPts val="600"/>
              </a:spcAft>
              <a:defRPr sz="850" b="1">
                <a:solidFill>
                  <a:srgbClr val="3B82F6"/>
                </a:solidFill>
              </a:defRPr>
            </a:pPr>
            <a:r>
              <a:t>[SEQUENCE: STEPS 1-8]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Participants: </a:t>
            </a:r>
            <a:r>
              <a:rPr sz="1000">
                <a:solidFill>
                  <a:srgbClr val="94A3B8"/>
                </a:solidFill>
              </a:rPr>
              <a:t>User -&gt; Maintenance Portal -&gt; FastAPI Backend -&gt; AI Pipeline -&gt; Database -&gt; Facilities Dashboard -&gt; Technician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1-2: </a:t>
            </a:r>
            <a:r>
              <a:rPr sz="1000">
                <a:solidFill>
                  <a:srgbClr val="94A3B8"/>
                </a:solidFill>
              </a:rPr>
              <a:t>User submits complaint -&gt; Portal sends report to Backend.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3: </a:t>
            </a:r>
            <a:r>
              <a:rPr sz="1000">
                <a:solidFill>
                  <a:srgbClr val="94A3B8"/>
                </a:solidFill>
              </a:rPr>
              <a:t>Backend stores raw report in Database.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4: </a:t>
            </a:r>
            <a:r>
              <a:rPr sz="1000">
                <a:solidFill>
                  <a:srgbClr val="94A3B8"/>
                </a:solidFill>
              </a:rPr>
              <a:t>Backend sends complaint to Structure/Classify module.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5: </a:t>
            </a:r>
            <a:r>
              <a:rPr sz="1000">
                <a:solidFill>
                  <a:srgbClr val="94A3B8"/>
                </a:solidFill>
              </a:rPr>
              <a:t>Cluster module checks semantic/contextual similarity.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6: </a:t>
            </a:r>
            <a:r>
              <a:rPr sz="1000">
                <a:solidFill>
                  <a:srgbClr val="94A3B8"/>
                </a:solidFill>
              </a:rPr>
              <a:t>Prioritization module calculates incident priority score.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7: </a:t>
            </a:r>
            <a:r>
              <a:rPr sz="1000">
                <a:solidFill>
                  <a:srgbClr val="94A3B8"/>
                </a:solidFill>
              </a:rPr>
              <a:t>Prediction module evaluates recurrence risk using asset history.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8: </a:t>
            </a:r>
            <a:r>
              <a:rPr sz="1000">
                <a:solidFill>
                  <a:srgbClr val="94A3B8"/>
                </a:solidFill>
              </a:rPr>
              <a:t>Optimization module generates intervention recommendation.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2856" y="1810512"/>
            <a:ext cx="3054096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2. Sequence Flow (Steps 9 to 15)</a:t>
            </a:r>
          </a:p>
          <a:p>
            <a:pPr>
              <a:spcAft>
                <a:spcPts val="600"/>
              </a:spcAft>
              <a:defRPr sz="850" b="1">
                <a:solidFill>
                  <a:srgbClr val="06B6D4"/>
                </a:solidFill>
              </a:defRPr>
            </a:pPr>
            <a:r>
              <a:t>[SEQUENCE: STEPS 9-15]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9: </a:t>
            </a:r>
            <a:r>
              <a:rPr sz="1000">
                <a:solidFill>
                  <a:srgbClr val="94A3B8"/>
                </a:solidFill>
              </a:rPr>
              <a:t>Backend stores all intelligence results in Database.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10: </a:t>
            </a:r>
            <a:r>
              <a:rPr sz="1000">
                <a:solidFill>
                  <a:srgbClr val="94A3B8"/>
                </a:solidFill>
              </a:rPr>
              <a:t>Facilities Dashboard displays incident, duplicates, priority, and recommendation.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11: </a:t>
            </a:r>
            <a:r>
              <a:rPr sz="1000">
                <a:solidFill>
                  <a:srgbClr val="94A3B8"/>
                </a:solidFill>
              </a:rPr>
              <a:t>Facilities personnel create/assign work order to Technician.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12: </a:t>
            </a:r>
            <a:r>
              <a:rPr sz="1000">
                <a:solidFill>
                  <a:srgbClr val="94A3B8"/>
                </a:solidFill>
              </a:rPr>
              <a:t>Technician inspects and repairs physical asset.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13: </a:t>
            </a:r>
            <a:r>
              <a:rPr sz="1000">
                <a:solidFill>
                  <a:srgbClr val="94A3B8"/>
                </a:solidFill>
              </a:rPr>
              <a:t>Technician records outcome, cost, and resolution notes.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14: </a:t>
            </a:r>
            <a:r>
              <a:rPr sz="1000">
                <a:solidFill>
                  <a:srgbClr val="94A3B8"/>
                </a:solidFill>
              </a:rPr>
              <a:t>Database updates historical maintenance records.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Step 15: </a:t>
            </a:r>
            <a:r>
              <a:rPr sz="1000">
                <a:solidFill>
                  <a:srgbClr val="94A3B8"/>
                </a:solidFill>
              </a:rPr>
              <a:t>Historical data becomes training input for future intelligence.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1810512"/>
            <a:ext cx="3054096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3. Component &amp; State View</a:t>
            </a:r>
          </a:p>
          <a:p>
            <a:pPr>
              <a:spcAft>
                <a:spcPts val="600"/>
              </a:spcAft>
              <a:defRPr sz="850" b="1">
                <a:solidFill>
                  <a:srgbClr val="F43F5E"/>
                </a:solidFill>
              </a:defRPr>
            </a:pPr>
            <a:r>
              <a:t>[COMPONENT VIEW]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Component / UML View: </a:t>
            </a:r>
            <a:r>
              <a:rPr sz="1000">
                <a:solidFill>
                  <a:srgbClr val="94A3B8"/>
                </a:solidFill>
              </a:rPr>
              <a:t>Maintenance Portal, FastAPI Backend, PostgreSQL Database, AI Intelligence Pipeline, Work Order Management, Facilities Dashboard.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State / Workflow View: </a:t>
            </a:r>
            <a:r>
              <a:rPr sz="1000">
                <a:solidFill>
                  <a:srgbClr val="94A3B8"/>
                </a:solidFill>
              </a:rPr>
              <a:t>Report: Submitted -&gt; Structured -&gt; Clustered/Linked -&gt; Prioritized -&gt; Reviewed -&gt; Work Order Created -&gt; Assigned -&gt; In Repair -&gt; Completed -&gt; Historical.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Design Principle: </a:t>
            </a:r>
            <a:r>
              <a:rPr sz="1000">
                <a:solidFill>
                  <a:srgbClr val="94A3B8"/>
                </a:solidFill>
              </a:rPr>
              <a:t>Each intelligent component is independently testable and connected to measurable operational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PROCESS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84048"/>
            <a:ext cx="77724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SDLC Model Selection &amp; Project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Iterative / Incremental Development Model justification, 4 iteration plans, and concluding summary.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10512"/>
            <a:ext cx="3054096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1. Selected SDLC Model</a:t>
            </a:r>
          </a:p>
          <a:p>
            <a:pPr>
              <a:spcAft>
                <a:spcPts val="600"/>
              </a:spcAft>
              <a:defRPr sz="850" b="1">
                <a:solidFill>
                  <a:srgbClr val="8B5CF6"/>
                </a:solidFill>
              </a:defRPr>
            </a:pPr>
            <a:r>
              <a:t>[SDLC MODEL CHOICE]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Selected Model: </a:t>
            </a:r>
            <a:r>
              <a:rPr sz="1000">
                <a:solidFill>
                  <a:srgbClr val="94A3B8"/>
                </a:solidFill>
              </a:rPr>
              <a:t>Iterative / Incremental Development Model (Agile Framework).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Why This Model Fits: </a:t>
            </a:r>
            <a:r>
              <a:rPr sz="1000">
                <a:solidFill>
                  <a:srgbClr val="94A3B8"/>
                </a:solidFill>
              </a:rPr>
              <a:t>The project is planned in distinct evolutionary phases: MVP -&gt; Pattern Intelligence -&gt; Predictive Maintenance -&gt; Cost Optimization.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Independent Testing: </a:t>
            </a:r>
            <a:r>
              <a:rPr sz="1000">
                <a:solidFill>
                  <a:srgbClr val="94A3B8"/>
                </a:solidFill>
              </a:rPr>
              <a:t>Each intelligence component can be developed, verified, and benchmarked independently.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Data Adaptability: </a:t>
            </a:r>
            <a:r>
              <a:rPr sz="1000">
                <a:solidFill>
                  <a:srgbClr val="94A3B8"/>
                </a:solidFill>
              </a:rPr>
              <a:t>Data availability and quality evolve over time; simple baselines are built first before deploying complex ML.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Stakeholder Feedback: </a:t>
            </a:r>
            <a:r>
              <a:rPr sz="1000">
                <a:solidFill>
                  <a:srgbClr val="94A3B8"/>
                </a:solidFill>
              </a:rPr>
              <a:t>Maintenance staff and warden feedback is directly incorporated between iterations.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2856" y="1810512"/>
            <a:ext cx="3054096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2. 4-Phase Iteration Plan</a:t>
            </a:r>
          </a:p>
          <a:p>
            <a:pPr>
              <a:spcAft>
                <a:spcPts val="600"/>
              </a:spcAft>
              <a:defRPr sz="850" b="1">
                <a:solidFill>
                  <a:srgbClr val="F59E0B"/>
                </a:solidFill>
              </a:defRPr>
            </a:pPr>
            <a:r>
              <a:t>[ITERATION ROADMAP]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Iteration 1 (MVP Foundation): </a:t>
            </a:r>
            <a:r>
              <a:rPr sz="1000">
                <a:solidFill>
                  <a:srgbClr val="94A3B8"/>
                </a:solidFill>
              </a:rPr>
              <a:t>Incident extraction, classification, duplicate detection, basic prioritization, and facilities dashboard.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Iteration 2 (Pattern Intelligence): </a:t>
            </a:r>
            <a:r>
              <a:rPr sz="1000">
                <a:solidFill>
                  <a:srgbClr val="94A3B8"/>
                </a:solidFill>
              </a:rPr>
              <a:t>Recurring failure tracking and asset-level telemetry pattern intelligence.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Iteration 3 (Predictive Analytics): </a:t>
            </a:r>
            <a:r>
              <a:rPr sz="1000">
                <a:solidFill>
                  <a:srgbClr val="94A3B8"/>
                </a:solidFill>
              </a:rPr>
              <a:t>Failure/recurrence prediction and dynamic asset risk scoring models.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Iteration 4 (Cost Optimization): </a:t>
            </a:r>
            <a:r>
              <a:rPr sz="1000">
                <a:solidFill>
                  <a:srgbClr val="94A3B8"/>
                </a:solidFill>
              </a:rPr>
              <a:t>Cost-aware intervention recommendations, resource optimization, and final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10512"/>
            <a:ext cx="3328416" cy="4617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1810512"/>
            <a:ext cx="305409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75104"/>
            <a:ext cx="2999232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</a:defRPr>
            </a:pPr>
            <a:r>
              <a:t>3. Project Conclusion &amp; Core Loop</a:t>
            </a:r>
          </a:p>
          <a:p>
            <a:pPr>
              <a:spcAft>
                <a:spcPts val="600"/>
              </a:spcAft>
              <a:defRPr sz="850" b="1">
                <a:solidFill>
                  <a:srgbClr val="10B981"/>
                </a:solidFill>
              </a:defRPr>
            </a:pPr>
            <a:r>
              <a:t>[PROJECT CONCLUSION]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Evolving Campus Maintenance: </a:t>
            </a:r>
            <a:r>
              <a:rPr sz="1000">
                <a:solidFill>
                  <a:srgbClr val="94A3B8"/>
                </a:solidFill>
              </a:rPr>
              <a:t>Transitions campus facility management from reactive, chaotic ticket handling to data-driven, predictive decision support.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The Core Operational Loop: </a:t>
            </a:r>
            <a:r>
              <a:rPr sz="1000">
                <a:solidFill>
                  <a:srgbClr val="94A3B8"/>
                </a:solidFill>
              </a:rPr>
              <a:t>Reports -&gt; Intelligence -&gt; Maintenance Action -&gt; Repair Outcome -&gt; Historical Intelligence.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Human Responsibility: </a:t>
            </a:r>
            <a:r>
              <a:rPr sz="1000">
                <a:solidFill>
                  <a:srgbClr val="94A3B8"/>
                </a:solidFill>
              </a:rPr>
              <a:t>Human facilities personnel remain authoritative and responsible for validating all operational actions.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Production Readiness: </a:t>
            </a:r>
            <a:r>
              <a:rPr sz="1000">
                <a:solidFill>
                  <a:srgbClr val="94A3B8"/>
                </a:solidFill>
              </a:rPr>
              <a:t>Combines an interactive Next.js web portal with a robust modular AI pipeline ready for campus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